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00B2E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0"/>
            <a:ext cx="54864" cy="68580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Shape 2"/>
          <p:cNvSpPr/>
          <p:nvPr/>
        </p:nvSpPr>
        <p:spPr>
          <a:xfrm>
            <a:off x="1234440" y="822960"/>
            <a:ext cx="2286000" cy="2286000"/>
          </a:xfrm>
          <a:prstGeom prst="ellipse">
            <a:avLst/>
          </a:prstGeom>
          <a:solidFill>
            <a:srgbClr val="6B2FD9"/>
          </a:solidFill>
          <a:ln w="381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8229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SOULCIRCUIT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Growth Agency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0" y="1188720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</a:t>
            </a:r>
            <a:endParaRPr lang="en-US" sz="5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Growth.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120640" y="31546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Your Business.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120640" y="4069080"/>
            <a:ext cx="5029200" cy="0"/>
          </a:xfrm>
          <a:prstGeom prst="line">
            <a:avLst/>
          </a:prstGeom>
          <a:noFill/>
          <a:ln w="12700">
            <a:solidFill>
              <a:srgbClr val="9B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42519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calls → Answered.  Leads → Nurtured.  Ads → Managed.  Business → Scaled.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2026  |  soulcircuit.com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Service Businesses Are Losing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Every Month — Silently.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20040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5577840" cy="1920240"/>
          </a:xfrm>
          <a:prstGeom prst="roundRect">
            <a:avLst>
              <a:gd name="adj" fmla="val 5714"/>
            </a:avLst>
          </a:prstGeom>
          <a:solidFill>
            <a:srgbClr val="1616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51760" y="20116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won't call back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their first call goes unanswered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512064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175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B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you wait, the more revenue walks out the door.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577840" cy="1920240"/>
          </a:xfrm>
          <a:prstGeom prst="roundRect">
            <a:avLst>
              <a:gd name="adj" fmla="val 5714"/>
            </a:avLst>
          </a:prstGeom>
          <a:solidFill>
            <a:srgbClr val="1616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65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595360" y="20116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lost per year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missed calls alone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2880360"/>
            <a:ext cx="512064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0175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B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you wait, the more revenue walks out the door.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5577840" cy="1920240"/>
          </a:xfrm>
          <a:prstGeom prst="roundRect">
            <a:avLst>
              <a:gd name="adj" fmla="val 5714"/>
            </a:avLst>
          </a:prstGeom>
          <a:solidFill>
            <a:srgbClr val="1616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605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651760" y="4206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window to respond to a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 before conversion drops 80%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512064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12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B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you wait, the more revenue walks out the door.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4023360"/>
            <a:ext cx="5577840" cy="1920240"/>
          </a:xfrm>
          <a:prstGeom prst="roundRect">
            <a:avLst>
              <a:gd name="adj" fmla="val 5714"/>
            </a:avLst>
          </a:prstGeom>
          <a:solidFill>
            <a:srgbClr val="1616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1605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595360" y="4206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jobs go to the first business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responds — not the best one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5074920"/>
            <a:ext cx="512064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5212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B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you wait, the more revenue walks out the door.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Done-For-You AI Growth System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0040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SoulCircuit deploys a seamless 4-step AI workflow so no lead slips through the cracks.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51560" y="3154680"/>
            <a:ext cx="9601200" cy="0"/>
          </a:xfrm>
          <a:prstGeom prst="line">
            <a:avLst/>
          </a:prstGeom>
          <a:noFill/>
          <a:ln w="19050">
            <a:solidFill>
              <a:srgbClr val="6B2FD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4320" y="210312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1312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377440"/>
            <a:ext cx="1051560" cy="1051560"/>
          </a:xfrm>
          <a:prstGeom prst="ellipse">
            <a:avLst/>
          </a:prstGeom>
          <a:solidFill>
            <a:srgbClr val="6B2FD9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7744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3611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2148840" cy="0"/>
          </a:xfrm>
          <a:prstGeom prst="line">
            <a:avLst/>
          </a:prstGeom>
          <a:noFill/>
          <a:ln w="9525">
            <a:solidFill>
              <a:srgbClr val="9B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2976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receptionist answers every call, texts, and web inquiry 24/7 — never misses a lead.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18688" y="210312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1312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41648" y="2377440"/>
            <a:ext cx="1051560" cy="1051560"/>
          </a:xfrm>
          <a:prstGeom prst="ellipse">
            <a:avLst/>
          </a:prstGeom>
          <a:solidFill>
            <a:srgbClr val="6B2FD9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1648" y="237744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55848" y="3611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493008" y="4160520"/>
            <a:ext cx="2148840" cy="0"/>
          </a:xfrm>
          <a:prstGeom prst="line">
            <a:avLst/>
          </a:prstGeom>
          <a:noFill/>
          <a:ln w="9525">
            <a:solidFill>
              <a:srgbClr val="9B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42976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qualifies prospects, gathers job details, and books appointments automatically.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3056" y="210312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1312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86016" y="2377440"/>
            <a:ext cx="1051560" cy="1051560"/>
          </a:xfrm>
          <a:prstGeom prst="ellipse">
            <a:avLst/>
          </a:prstGeom>
          <a:solidFill>
            <a:srgbClr val="6B2FD9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86016" y="237744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00216" y="3611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37376" y="4160520"/>
            <a:ext cx="2148840" cy="0"/>
          </a:xfrm>
          <a:prstGeom prst="line">
            <a:avLst/>
          </a:prstGeom>
          <a:noFill/>
          <a:ln w="9525">
            <a:solidFill>
              <a:srgbClr val="9B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42976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follow-up sequences keep warm leads engaged until they convert.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07424" y="210312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1312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30384" y="2377440"/>
            <a:ext cx="1051560" cy="1051560"/>
          </a:xfrm>
          <a:prstGeom prst="ellipse">
            <a:avLst/>
          </a:prstGeom>
          <a:solidFill>
            <a:srgbClr val="6B2FD9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30384" y="237744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244584" y="3611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381744" y="4160520"/>
            <a:ext cx="2148840" cy="0"/>
          </a:xfrm>
          <a:prstGeom prst="line">
            <a:avLst/>
          </a:prstGeom>
          <a:noFill/>
          <a:ln w="9525">
            <a:solidFill>
              <a:srgbClr val="9B6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44584" y="42976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 campaigns + social content drive a continuous stream of high-quality inbound leads.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</a:rPr>
              <a:t>OUR SERVICES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Business Needs.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 Have to Manage.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20040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73736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7373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6B2FD9"/>
          </a:solidFill>
          <a:ln/>
        </p:spPr>
      </p:sp>
      <p:sp>
        <p:nvSpPr>
          <p:cNvPr id="9" name="Shape 7"/>
          <p:cNvSpPr/>
          <p:nvPr/>
        </p:nvSpPr>
        <p:spPr>
          <a:xfrm>
            <a:off x="256032" y="2331720"/>
            <a:ext cx="2743200" cy="320040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Receptionist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" y="2788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Answers calls &amp; texts 24/7/365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34747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Human-like voice &amp; chat 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4160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Instant lead qualification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4846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Auto-appointment booking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5532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CRM integration &amp; follow-up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173736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7373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A4DA6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2331720"/>
            <a:ext cx="2743200" cy="320040"/>
          </a:xfrm>
          <a:prstGeom prst="rect">
            <a:avLst/>
          </a:prstGeom>
          <a:solidFill>
            <a:srgbClr val="1A4DA6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83280" y="2788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End-to-end pipeline automation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4747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Estimate &amp; invoice triggers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160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Review request sequences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4846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Job status notifications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5532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No-show re-engagement flows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44768" y="173736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44768" y="17373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8B1A8B"/>
          </a:solidFill>
          <a:ln/>
        </p:spPr>
      </p:sp>
      <p:sp>
        <p:nvSpPr>
          <p:cNvPr id="27" name="Shape 25"/>
          <p:cNvSpPr/>
          <p:nvPr/>
        </p:nvSpPr>
        <p:spPr>
          <a:xfrm>
            <a:off x="6144768" y="2331720"/>
            <a:ext cx="2743200" cy="320040"/>
          </a:xfrm>
          <a:prstGeom prst="rect">
            <a:avLst/>
          </a:prstGeom>
          <a:solidFill>
            <a:srgbClr val="8B1A8B"/>
          </a:solidFill>
          <a:ln/>
        </p:spPr>
      </p:sp>
      <p:sp>
        <p:nvSpPr>
          <p:cNvPr id="28" name="Text 26"/>
          <p:cNvSpPr/>
          <p:nvPr/>
        </p:nvSpPr>
        <p:spPr>
          <a:xfrm>
            <a:off x="6281928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Management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27648" y="2788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Facebook &amp; Instagram campaigns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27648" y="34747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Hyper-local targeting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7648" y="4160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Creative design &amp; copywriting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27648" y="4846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Weekly performance reporting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27648" y="5532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Continuous A/B optimization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89136" y="173736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89136" y="17373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0D6B5E"/>
          </a:solidFill>
          <a:ln/>
        </p:spPr>
      </p:sp>
      <p:sp>
        <p:nvSpPr>
          <p:cNvPr id="36" name="Shape 34"/>
          <p:cNvSpPr/>
          <p:nvPr/>
        </p:nvSpPr>
        <p:spPr>
          <a:xfrm>
            <a:off x="9089136" y="2331720"/>
            <a:ext cx="2743200" cy="320040"/>
          </a:xfrm>
          <a:prstGeom prst="rect">
            <a:avLst/>
          </a:prstGeom>
          <a:solidFill>
            <a:srgbClr val="0D6B5E"/>
          </a:solidFill>
          <a:ln/>
        </p:spPr>
      </p:sp>
      <p:sp>
        <p:nvSpPr>
          <p:cNvPr id="37" name="Text 35"/>
          <p:cNvSpPr/>
          <p:nvPr/>
        </p:nvSpPr>
        <p:spPr>
          <a:xfrm>
            <a:off x="9226296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Management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272016" y="2788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4–5 posts per week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272016" y="34747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On-brand content &amp; Reels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72016" y="4160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Community engagement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72016" y="4846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Reputation management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272016" y="5532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Monthly analytics report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</a:rPr>
              <a:t>LIVE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 — Right Now.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0040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554480"/>
            <a:ext cx="9445752" cy="4389120"/>
          </a:xfrm>
          <a:prstGeom prst="roundRect">
            <a:avLst>
              <a:gd name="adj" fmla="val 2500"/>
            </a:avLst>
          </a:prstGeom>
          <a:solidFill>
            <a:srgbClr val="100B2E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82880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📞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Our AI Receptionist Live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352044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(813) 536-6222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3200400" y="4434840"/>
            <a:ext cx="5788152" cy="0"/>
          </a:xfrm>
          <a:prstGeom prst="line">
            <a:avLst/>
          </a:prstGeom>
          <a:noFill/>
          <a:ln w="9525">
            <a:solidFill>
              <a:srgbClr val="9B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52628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 real AI-powered call — scheduling, qualifying, and follow-up in seconds.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scripts. No menus. Just intelligent conversation.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539496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9B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 →  Pull out your phone and dial.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</a:rPr>
              <a:t>PRICING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0040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 full onboarding, setup, and dedicated account management.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920240"/>
            <a:ext cx="3657600" cy="822960"/>
          </a:xfrm>
          <a:prstGeom prst="roundRect">
            <a:avLst>
              <a:gd name="adj" fmla="val 13333"/>
            </a:avLst>
          </a:prstGeom>
          <a:solidFill>
            <a:srgbClr val="6B2FD9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2468880"/>
            <a:ext cx="3657600" cy="274320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057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94560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657600"/>
            <a:ext cx="3108960" cy="0"/>
          </a:xfrm>
          <a:prstGeom prst="line">
            <a:avLst/>
          </a:prstGeom>
          <a:noFill/>
          <a:ln w="6350">
            <a:solidFill>
              <a:srgbClr val="9B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Receptionist (calls + texts)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workflow automation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800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CRM setup &amp; integration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performance report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806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5989320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6B2FD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598932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97096" y="1847088"/>
            <a:ext cx="3803904" cy="4809744"/>
          </a:xfrm>
          <a:prstGeom prst="roundRect">
            <a:avLst>
              <a:gd name="adj" fmla="val 3365"/>
            </a:avLst>
          </a:prstGeom>
          <a:solidFill>
            <a:srgbClr val="FFB8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270248" y="19202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A0E40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70248" y="1920240"/>
            <a:ext cx="3657600" cy="822960"/>
          </a:xfrm>
          <a:prstGeom prst="roundRect">
            <a:avLst>
              <a:gd name="adj" fmla="val 13333"/>
            </a:avLst>
          </a:prstGeom>
          <a:solidFill>
            <a:srgbClr val="FFB800"/>
          </a:solidFill>
          <a:ln/>
        </p:spPr>
      </p:sp>
      <p:sp>
        <p:nvSpPr>
          <p:cNvPr id="25" name="Shape 23"/>
          <p:cNvSpPr/>
          <p:nvPr/>
        </p:nvSpPr>
        <p:spPr>
          <a:xfrm>
            <a:off x="4270248" y="2468880"/>
            <a:ext cx="3657600" cy="2743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6" name="Text 24"/>
          <p:cNvSpPr/>
          <p:nvPr/>
        </p:nvSpPr>
        <p:spPr>
          <a:xfrm>
            <a:off x="4270248" y="2057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70248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144768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44568" y="3657600"/>
            <a:ext cx="3108960" cy="0"/>
          </a:xfrm>
          <a:prstGeom prst="line">
            <a:avLst/>
          </a:prstGeom>
          <a:noFill/>
          <a:ln w="6350">
            <a:solidFill>
              <a:srgbClr val="9B6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53128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Starter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53128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Meta Ads management (up to $3K ad spend)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53128" y="4800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Advanced automation sequences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53128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Social media management (4 posts/wk)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53128" y="5806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Bi-weekly strategy calls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44568" y="5989320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B800"/>
          </a:solidFill>
          <a:ln/>
        </p:spPr>
      </p:sp>
      <p:sp>
        <p:nvSpPr>
          <p:cNvPr id="36" name="Text 34"/>
          <p:cNvSpPr/>
          <p:nvPr/>
        </p:nvSpPr>
        <p:spPr>
          <a:xfrm>
            <a:off x="4544568" y="598932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20456" y="19202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0456" y="1920240"/>
            <a:ext cx="3657600" cy="822960"/>
          </a:xfrm>
          <a:prstGeom prst="roundRect">
            <a:avLst>
              <a:gd name="adj" fmla="val 13333"/>
            </a:avLst>
          </a:prstGeom>
          <a:solidFill>
            <a:srgbClr val="6B2FD9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0456" y="2468880"/>
            <a:ext cx="3657600" cy="274320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40" name="Text 38"/>
          <p:cNvSpPr/>
          <p:nvPr/>
        </p:nvSpPr>
        <p:spPr>
          <a:xfrm>
            <a:off x="8220456" y="2057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220456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10094976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494776" y="3657600"/>
            <a:ext cx="3108960" cy="0"/>
          </a:xfrm>
          <a:prstGeom prst="line">
            <a:avLst/>
          </a:prstGeom>
          <a:noFill/>
          <a:ln w="6350">
            <a:solidFill>
              <a:srgbClr val="9B6B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03336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Growth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403336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ad spend management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03336" y="4800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AI workflows &amp; integrations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03336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Daily social content + Reels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03336" y="5806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 + weekly calls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494776" y="5989320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6B2FD9"/>
          </a:solidFill>
          <a:ln/>
        </p:spPr>
      </p:sp>
      <p:sp>
        <p:nvSpPr>
          <p:cNvPr id="50" name="Text 48"/>
          <p:cNvSpPr/>
          <p:nvPr/>
        </p:nvSpPr>
        <p:spPr>
          <a:xfrm>
            <a:off x="8494776" y="598932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</a:rPr>
              <a:t>WHY SOULCIRCUIT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Different. Built For You.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0040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9164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1874520"/>
            <a:ext cx="274320" cy="27432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01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AI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333756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4144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is trained specifically on home service industries — HVAC, plumbing, roofing, landscaping, and more. It speaks your customer's language.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70248" y="169164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1416" y="1874520"/>
            <a:ext cx="274320" cy="27432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801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Done-For-You, Not DIY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53128" y="2331720"/>
            <a:ext cx="333756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3128" y="244144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touch a single tool. We handle setup, management, optimization, and reporting — so you stay focused on your craft.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0456" y="169164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21624" y="1874520"/>
            <a:ext cx="274320" cy="27432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8814816" y="1801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ROI, Real Fast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403336" y="2331720"/>
            <a:ext cx="333756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3336" y="244144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clients see measurable lead increases within the first 30 days. We track every dollar of ad spend and every call answered.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4023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" y="4206240"/>
            <a:ext cx="274320" cy="27432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1330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Team, All Channels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4663440"/>
            <a:ext cx="333756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7316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calls, automation, paid ads, and social — all under one roof with one point of contact. No agency juggling.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70248" y="4023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71416" y="4206240"/>
            <a:ext cx="274320" cy="27432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41330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Coverage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453128" y="4663440"/>
            <a:ext cx="333756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53128" y="477316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receptionist never sleeps, never calls in sick, never puts a customer on hold. 24/7/365 lead capture, guaranteed.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0456" y="4023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21624" y="4206240"/>
            <a:ext cx="274320" cy="27432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34" name="Text 32"/>
          <p:cNvSpPr/>
          <p:nvPr/>
        </p:nvSpPr>
        <p:spPr>
          <a:xfrm>
            <a:off x="8814816" y="41330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Reporting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403336" y="4663440"/>
            <a:ext cx="333756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03336" y="477316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dashboards and bi-weekly calls keep you fully informed. No black boxes, no guessing — just clear data and results.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914400"/>
            <a:ext cx="7772400" cy="5486400"/>
          </a:xfrm>
          <a:prstGeom prst="ellipse">
            <a:avLst/>
          </a:prstGeom>
          <a:solidFill>
            <a:srgbClr val="1A0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GROW?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Your</a:t>
            </a:r>
            <a:endParaRPr lang="en-US" sz="4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Machine.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losing leads. Start scaling revenue.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SoulCircuit handles everything — so you never miss a job again.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0" y="3794760"/>
            <a:ext cx="3959352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397764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FB800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Strategy Call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85432" y="3977640"/>
            <a:ext cx="3657600" cy="640080"/>
          </a:xfrm>
          <a:prstGeom prst="roundRect">
            <a:avLst>
              <a:gd name="adj" fmla="val 14286"/>
            </a:avLst>
          </a:prstGeom>
          <a:ln w="19050">
            <a:solidFill>
              <a:srgbClr val="9B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85432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 (813) 536-6222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YOUR-DOMAIN-HERE.com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5349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hello@YOUR-DOMAIN-HERE.com   |   📞  (813) 536-6222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5852160"/>
            <a:ext cx="6702552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SoulCircuit  |  AI-Powered Growth for Home Service Businesses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SoulCircuit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SoulCircuit Pitch Deck</dc:title>
  <dc:subject>Pitch Deck</dc:subject>
  <dc:creator>SoulCircuit</dc:creator>
  <cp:lastModifiedBy>SoulCircuit</cp:lastModifiedBy>
  <cp:revision>1</cp:revision>
  <dcterms:created xsi:type="dcterms:W3CDTF">2026-03-27T02:08:35Z</dcterms:created>
  <dcterms:modified xsi:type="dcterms:W3CDTF">2026-03-27T02:08:35Z</dcterms:modified>
</cp:coreProperties>
</file>