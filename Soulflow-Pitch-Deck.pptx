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soulflowconsulting.netlify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00B2E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0"/>
            <a:ext cx="54864" cy="6858000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4440" y="82296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SOULFLOW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Growth Agency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120640" y="1188720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Growth.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120640" y="31546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Your Business.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5120640" y="4069080"/>
            <a:ext cx="5029200" cy="0"/>
          </a:xfrm>
          <a:prstGeom prst="line">
            <a:avLst/>
          </a:prstGeom>
          <a:noFill/>
          <a:ln w="12700">
            <a:solidFill>
              <a:srgbClr val="9B6B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42519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calls → Answered.  Leads → Nurtured.  Ads → Managed.  Business → Scaled.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12" name="Text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2026  |  soulflow.com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Service Businesses Are Losing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Every Month — Silently.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616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51760" y="2011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won't call back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their first call goes unanswered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12064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you wait, the more revenue walks out the door.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616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95360" y="2011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lost per year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missed calls alone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880360"/>
            <a:ext cx="512064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0175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you wait, the more revenue walks out the door.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616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651760" y="4206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window to respond to a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before conversion drops 80%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12064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12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you wait, the more revenue walks out the door.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1616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605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595360" y="4206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jobs go to the first business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responds — not the best one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5074920"/>
            <a:ext cx="512064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212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you wait, the more revenue walks out the door.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Done-For-You AI Growth System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Soulflow deploys a seamless 4-step AI workflow so no lead slips through the cracks.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3154680"/>
            <a:ext cx="9601200" cy="0"/>
          </a:xfrm>
          <a:prstGeom prst="line">
            <a:avLst/>
          </a:prstGeom>
          <a:noFill/>
          <a:ln w="19050">
            <a:solidFill>
              <a:srgbClr val="6B2FD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4320" y="210312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312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377440"/>
            <a:ext cx="1051560" cy="1051560"/>
          </a:xfrm>
          <a:prstGeom prst="ellipse">
            <a:avLst/>
          </a:prstGeom>
          <a:solidFill>
            <a:srgbClr val="6B2FD9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774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2148840" cy="0"/>
          </a:xfrm>
          <a:prstGeom prst="line">
            <a:avLst/>
          </a:prstGeom>
          <a:noFill/>
          <a:ln w="9525">
            <a:solidFill>
              <a:srgbClr val="9B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2976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receptionist answers every call, texts, and web inquiry 24/7 — never misses a lead.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210312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312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2377440"/>
            <a:ext cx="1051560" cy="1051560"/>
          </a:xfrm>
          <a:prstGeom prst="ellipse">
            <a:avLst/>
          </a:prstGeom>
          <a:solidFill>
            <a:srgbClr val="6B2FD9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23774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55848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493008" y="4160520"/>
            <a:ext cx="2148840" cy="0"/>
          </a:xfrm>
          <a:prstGeom prst="line">
            <a:avLst/>
          </a:prstGeom>
          <a:noFill/>
          <a:ln w="9525">
            <a:solidFill>
              <a:srgbClr val="9B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42976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qualifies prospects, gathers job details, and books appointments automatically.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210312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312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6016" y="2377440"/>
            <a:ext cx="1051560" cy="1051560"/>
          </a:xfrm>
          <a:prstGeom prst="ellipse">
            <a:avLst/>
          </a:prstGeom>
          <a:solidFill>
            <a:srgbClr val="6B2FD9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6016" y="23774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00216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37376" y="4160520"/>
            <a:ext cx="2148840" cy="0"/>
          </a:xfrm>
          <a:prstGeom prst="line">
            <a:avLst/>
          </a:prstGeom>
          <a:noFill/>
          <a:ln w="9525">
            <a:solidFill>
              <a:srgbClr val="9B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42976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follow-up sequences keep warm leads engaged until they convert.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07424" y="210312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13123A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30384" y="2377440"/>
            <a:ext cx="1051560" cy="1051560"/>
          </a:xfrm>
          <a:prstGeom prst="ellipse">
            <a:avLst/>
          </a:prstGeom>
          <a:solidFill>
            <a:srgbClr val="6B2FD9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30384" y="23774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244584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381744" y="4160520"/>
            <a:ext cx="2148840" cy="0"/>
          </a:xfrm>
          <a:prstGeom prst="line">
            <a:avLst/>
          </a:prstGeom>
          <a:noFill/>
          <a:ln w="9525">
            <a:solidFill>
              <a:srgbClr val="9B6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44584" y="429768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 campaigns + social content drive a continuous stream of high-quality inbound leads.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OUR SERVICES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Business Needs.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Have to Manage.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73736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7373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6B2FD9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" y="2331720"/>
            <a:ext cx="2743200" cy="320040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Receptionist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" y="2788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Answers calls &amp; texts 24/7/365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3474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Human-like voice &amp; chat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4160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Instant lead qualification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Auto-appointment booking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CRM integration &amp; follow-up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173736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7373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A4DA6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2331720"/>
            <a:ext cx="2743200" cy="320040"/>
          </a:xfrm>
          <a:prstGeom prst="rect">
            <a:avLst/>
          </a:prstGeom>
          <a:solidFill>
            <a:srgbClr val="1A4DA6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2788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End-to-end pipeline automation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474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Estimate &amp; invoice triggers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160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Review request sequences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Job status notifications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No-show re-engagement flows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4768" y="173736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4768" y="17373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8B1A8B"/>
          </a:solidFill>
          <a:ln/>
        </p:spPr>
      </p:sp>
      <p:sp>
        <p:nvSpPr>
          <p:cNvPr id="27" name="Shape 25"/>
          <p:cNvSpPr/>
          <p:nvPr/>
        </p:nvSpPr>
        <p:spPr>
          <a:xfrm>
            <a:off x="6144768" y="2331720"/>
            <a:ext cx="2743200" cy="320040"/>
          </a:xfrm>
          <a:prstGeom prst="rect">
            <a:avLst/>
          </a:prstGeom>
          <a:solidFill>
            <a:srgbClr val="8B1A8B"/>
          </a:solidFill>
          <a:ln/>
        </p:spPr>
      </p:sp>
      <p:sp>
        <p:nvSpPr>
          <p:cNvPr id="28" name="Text 26"/>
          <p:cNvSpPr/>
          <p:nvPr/>
        </p:nvSpPr>
        <p:spPr>
          <a:xfrm>
            <a:off x="6281928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Management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27648" y="2788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Facebook &amp; Instagram campaigns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27648" y="3474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Hyper-local targeting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4160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Creative design &amp; copywriting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27648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Weekly performance reporting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27648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Continuous A/B optimization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89136" y="173736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89136" y="17373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0D6B5E"/>
          </a:solidFill>
          <a:ln/>
        </p:spPr>
      </p:sp>
      <p:sp>
        <p:nvSpPr>
          <p:cNvPr id="36" name="Shape 34"/>
          <p:cNvSpPr/>
          <p:nvPr/>
        </p:nvSpPr>
        <p:spPr>
          <a:xfrm>
            <a:off x="9089136" y="2331720"/>
            <a:ext cx="2743200" cy="320040"/>
          </a:xfrm>
          <a:prstGeom prst="rect">
            <a:avLst/>
          </a:prstGeom>
          <a:solidFill>
            <a:srgbClr val="0D6B5E"/>
          </a:solidFill>
          <a:ln/>
        </p:spPr>
      </p:sp>
      <p:sp>
        <p:nvSpPr>
          <p:cNvPr id="37" name="Text 35"/>
          <p:cNvSpPr/>
          <p:nvPr/>
        </p:nvSpPr>
        <p:spPr>
          <a:xfrm>
            <a:off x="9226296" y="1920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Management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272016" y="2788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4–5 posts per week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72016" y="3474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On-brand content &amp; Reels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72016" y="4160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Community engagement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72016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Reputation management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272016" y="5532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Monthly analytics report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LIVE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 — Right Now.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554480"/>
            <a:ext cx="9445752" cy="4389120"/>
          </a:xfrm>
          <a:prstGeom prst="roundRect">
            <a:avLst>
              <a:gd name="adj" fmla="val 2500"/>
            </a:avLst>
          </a:prstGeom>
          <a:solidFill>
            <a:srgbClr val="100B2E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2880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📞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Our AI Receptionist Live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352044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(813) 536-6222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3200400" y="4434840"/>
            <a:ext cx="5788152" cy="0"/>
          </a:xfrm>
          <a:prstGeom prst="line">
            <a:avLst/>
          </a:prstGeom>
          <a:noFill/>
          <a:ln w="9525">
            <a:solidFill>
              <a:srgbClr val="9B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52628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 real AI-powered call — scheduling, qualifying, and follow-up in seconds.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scripts. No menus. Just intelligent conversation.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539496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 →  Pull out your phone and dial.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PRICING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full onboarding, setup, and dedicated account management.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20240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6B2FD9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468880"/>
            <a:ext cx="3657600" cy="274320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94560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3108960" cy="0"/>
          </a:xfrm>
          <a:prstGeom prst="line">
            <a:avLst/>
          </a:prstGeom>
          <a:noFill/>
          <a:ln w="6350">
            <a:solidFill>
              <a:srgbClr val="9B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Receptionist (calls + texts)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workflow 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CRM setup &amp; 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performance report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806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598932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6B2FD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59893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97096" y="1847088"/>
            <a:ext cx="3803904" cy="4809744"/>
          </a:xfrm>
          <a:prstGeom prst="roundRect">
            <a:avLst>
              <a:gd name="adj" fmla="val 3365"/>
            </a:avLst>
          </a:prstGeom>
          <a:solidFill>
            <a:srgbClr val="FFB8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270248" y="19202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A0E40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70248" y="1920240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FFB800"/>
          </a:solidFill>
          <a:ln/>
        </p:spPr>
      </p:sp>
      <p:sp>
        <p:nvSpPr>
          <p:cNvPr id="25" name="Shape 23"/>
          <p:cNvSpPr/>
          <p:nvPr/>
        </p:nvSpPr>
        <p:spPr>
          <a:xfrm>
            <a:off x="4270248" y="2468880"/>
            <a:ext cx="3657600" cy="2743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6" name="Text 24"/>
          <p:cNvSpPr/>
          <p:nvPr/>
        </p:nvSpPr>
        <p:spPr>
          <a:xfrm>
            <a:off x="4270248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70248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144768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44568" y="3657600"/>
            <a:ext cx="3108960" cy="0"/>
          </a:xfrm>
          <a:prstGeom prst="line">
            <a:avLst/>
          </a:prstGeom>
          <a:noFill/>
          <a:ln w="6350">
            <a:solidFill>
              <a:srgbClr val="9B6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3128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Starter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53128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Meta Ads management (up to $3K ad spend)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53128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automation sequences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53128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Social media management (4 posts/wk)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53128" y="5806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Bi-weekly strategy calls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44568" y="598932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B800"/>
          </a:solidFill>
          <a:ln/>
        </p:spPr>
      </p:sp>
      <p:sp>
        <p:nvSpPr>
          <p:cNvPr id="36" name="Text 34"/>
          <p:cNvSpPr/>
          <p:nvPr/>
        </p:nvSpPr>
        <p:spPr>
          <a:xfrm>
            <a:off x="4544568" y="59893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20456" y="19202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0456" y="1920240"/>
            <a:ext cx="3657600" cy="822960"/>
          </a:xfrm>
          <a:prstGeom prst="roundRect">
            <a:avLst>
              <a:gd name="adj" fmla="val 13333"/>
            </a:avLst>
          </a:prstGeom>
          <a:solidFill>
            <a:srgbClr val="6B2FD9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0456" y="2468880"/>
            <a:ext cx="3657600" cy="274320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40" name="Text 38"/>
          <p:cNvSpPr/>
          <p:nvPr/>
        </p:nvSpPr>
        <p:spPr>
          <a:xfrm>
            <a:off x="8220456" y="2057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20456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10094976" y="3246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494776" y="3657600"/>
            <a:ext cx="3108960" cy="0"/>
          </a:xfrm>
          <a:prstGeom prst="line">
            <a:avLst/>
          </a:prstGeom>
          <a:noFill/>
          <a:ln w="6350">
            <a:solidFill>
              <a:srgbClr val="9B6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03336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Growth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03336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ad spend management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03336" y="4800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AI workflows &amp; integrations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03336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Daily social content + Reels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03336" y="5806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 + weekly calls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494776" y="598932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6B2FD9"/>
          </a:solidFill>
          <a:ln/>
        </p:spPr>
      </p:sp>
      <p:sp>
        <p:nvSpPr>
          <p:cNvPr id="50" name="Text 48"/>
          <p:cNvSpPr/>
          <p:nvPr/>
        </p:nvSpPr>
        <p:spPr>
          <a:xfrm>
            <a:off x="8494776" y="59893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B2F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</a:rPr>
              <a:t>WHY SOULFLOW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Different. Built For You.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0"/>
          </a:xfrm>
          <a:prstGeom prst="line">
            <a:avLst/>
          </a:prstGeom>
          <a:noFill/>
          <a:ln w="25400">
            <a:solidFill>
              <a:srgbClr val="FFB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87452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01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AI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4144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is trained specifically on home service industries — HVAC, plumbing, roofing, landscaping, and more. It speaks your customer's language.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70248" y="169164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1416" y="187452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801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Done-For-You, Not DIY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53128" y="233172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244144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touch a single tool. We handle setup, management, optimization, and reporting — so you stay focused on your craft.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0456" y="169164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21624" y="187452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8814816" y="1801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ROI, Real Fast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03336" y="233172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3336" y="244144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clients see measurable lead increases within the first 30 days. We track every dollar of ad spend and every call answered.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023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420624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1330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All Channels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466344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7316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calls, automation, paid ads, and social — all under one roof with one point of contact. No agency juggling.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70248" y="4023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71416" y="420624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41330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Coverage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453128" y="466344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53128" y="477316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receptionist never sleeps, never calls in sick, never puts a customer on hold. 24/7/365 lead capture, guaranteed.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0456" y="4023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0F0F28"/>
          </a:solidFill>
          <a:ln w="19050">
            <a:solidFill>
              <a:srgbClr val="6B2F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21624" y="4206240"/>
            <a:ext cx="274320" cy="27432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34" name="Text 32"/>
          <p:cNvSpPr/>
          <p:nvPr/>
        </p:nvSpPr>
        <p:spPr>
          <a:xfrm>
            <a:off x="8814816" y="41330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Reporting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403336" y="4663440"/>
            <a:ext cx="3337560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3336" y="4773168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dashboards and bi-weekly calls keep you fully informed. No black boxes, no guessing — just clear data and results.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914400"/>
            <a:ext cx="7772400" cy="5486400"/>
          </a:xfrm>
          <a:prstGeom prst="ellipse">
            <a:avLst/>
          </a:prstGeom>
          <a:solidFill>
            <a:srgbClr val="1A0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GROW?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Your</a:t>
            </a:r>
            <a:endParaRPr lang="en-US" sz="4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Machine.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losing leads. Start scaling revenue.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Soulflow handles everything — so you never miss a job again.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3794760"/>
            <a:ext cx="3959352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397764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FB800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Strategy Call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85432" y="3977640"/>
            <a:ext cx="3657600" cy="640080"/>
          </a:xfrm>
          <a:prstGeom prst="roundRect">
            <a:avLst>
              <a:gd name="adj" fmla="val 14286"/>
            </a:avLst>
          </a:prstGeom>
          <a:ln w="19050">
            <a:solidFill>
              <a:srgbClr val="9B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85432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 (813) 536-6222</a:t>
            </a:r>
            <a:endParaRPr lang="en-US" sz="150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457200" y="48920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soulflowconsulting.netlify.app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5349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hello@soulflow.ai   |   📞  (813) 536-6222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5852160"/>
            <a:ext cx="6702552" cy="0"/>
          </a:xfrm>
          <a:prstGeom prst="line">
            <a:avLst/>
          </a:prstGeom>
          <a:noFill/>
          <a:ln w="9525">
            <a:solidFill>
              <a:srgbClr val="6B2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Soulflow  |  AI-Powered Growth for Home Service Businesses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Soulflow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Soulflow Pitch Deck</dc:title>
  <dc:subject>Pitch Deck</dc:subject>
  <dc:creator>Soulflow</dc:creator>
  <cp:lastModifiedBy>Soulflow</cp:lastModifiedBy>
  <cp:revision>1</cp:revision>
  <dcterms:created xsi:type="dcterms:W3CDTF">2026-03-27T19:24:25Z</dcterms:created>
  <dcterms:modified xsi:type="dcterms:W3CDTF">2026-03-27T19:24:25Z</dcterms:modified>
</cp:coreProperties>
</file>